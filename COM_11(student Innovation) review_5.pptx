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69" r:id="rId3"/>
    <p:sldId id="277" r:id="rId4"/>
    <p:sldId id="278" r:id="rId5"/>
    <p:sldId id="282" r:id="rId6"/>
    <p:sldId id="283" r:id="rId7"/>
    <p:sldId id="281" r:id="rId8"/>
    <p:sldId id="285" r:id="rId9"/>
    <p:sldId id="288" r:id="rId10"/>
    <p:sldId id="289" r:id="rId11"/>
    <p:sldId id="290" r:id="rId12"/>
    <p:sldId id="268" r:id="rId13"/>
    <p:sldId id="270" r:id="rId14"/>
    <p:sldId id="265" r:id="rId15"/>
    <p:sldId id="287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EB7443-9E55-4C19-BB08-2ACB0E21662C}" v="22" dt="2025-12-09T07:23:10.829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2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Music to Fitness: A Smart Hardware Device for Adaptive Workout Motivation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Com_11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Prof. Mr Mohamed Shakir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983349949"/>
              </p:ext>
            </p:extLst>
          </p:nvPr>
        </p:nvGraphicFramePr>
        <p:xfrm>
          <a:off x="553347" y="2625746"/>
          <a:ext cx="5418675" cy="155917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327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864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20221COM0137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Abhishek Gowda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20221COM0162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Rithin U Reddy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20221COM0187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Rukmini Surve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COM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Pallavi R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Muthuraj V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Contents: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Introduction and Problem Statement</a:t>
            </a:r>
          </a:p>
          <a:p>
            <a:pPr marL="4953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Work flow</a:t>
            </a:r>
          </a:p>
          <a:p>
            <a:pPr marL="4953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Pseudo Code</a:t>
            </a:r>
          </a:p>
          <a:p>
            <a:pPr marL="4953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100 % Implementation with Live Demo</a:t>
            </a:r>
          </a:p>
          <a:p>
            <a:pPr marL="4953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Final Report Status</a:t>
            </a:r>
          </a:p>
          <a:p>
            <a:pPr marL="49530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Plagiarism Report</a:t>
            </a:r>
          </a:p>
          <a:p>
            <a:pPr marL="49530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Research Paper</a:t>
            </a:r>
          </a:p>
          <a:p>
            <a:pPr marL="49530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SDG Mapping with problem statement</a:t>
            </a:r>
          </a:p>
          <a:p>
            <a:pPr marL="49530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Repository</a:t>
            </a:r>
          </a:p>
          <a:p>
            <a:pPr marL="49530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 line of the Project</a:t>
            </a:r>
          </a:p>
          <a:p>
            <a:pPr marL="495300" lvl="0" indent="-3429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064C-0FD5-25CE-4615-E6EB069D6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and 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7CD2F-0CDA-451E-6227-E440A2EE0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• Aim: To develop a hardware prototype that adapts music based on real-time heart-rate readings.</a:t>
            </a:r>
          </a:p>
          <a:p>
            <a:pPr marL="0" indent="0">
              <a:buNone/>
            </a:pPr>
            <a:r>
              <a:rPr lang="en-GB" dirty="0"/>
              <a:t>• Goal: Enhance motivation during workouts and improve focus during study by automatically adjusting music type according to the user’s BPM.</a:t>
            </a:r>
          </a:p>
          <a:p>
            <a:pPr marL="0" indent="0">
              <a:buNone/>
            </a:pPr>
            <a:r>
              <a:rPr lang="en-GB" dirty="0"/>
              <a:t>• Hardware used: ESP32 development board, MAX30102 heart-rate sensor, 0.96″ OLED display, </a:t>
            </a:r>
            <a:r>
              <a:rPr lang="en-GB" dirty="0" err="1"/>
              <a:t>DFPlayer</a:t>
            </a:r>
            <a:r>
              <a:rPr lang="en-GB" dirty="0"/>
              <a:t> Mini MP3 module, microSD card, 8Ω 1W speaker, breadboards, jumper wires, resistors, capacitors, push buttons (optional).</a:t>
            </a:r>
          </a:p>
          <a:p>
            <a:pPr marL="0" indent="0">
              <a:buNone/>
            </a:pPr>
            <a:r>
              <a:rPr lang="en-GB" dirty="0"/>
              <a:t>• Expected outcome: Real-time personalised music response to physiological data (heart rate).</a:t>
            </a:r>
          </a:p>
        </p:txBody>
      </p:sp>
    </p:spTree>
    <p:extLst>
      <p:ext uri="{BB962C8B-B14F-4D97-AF65-F5344CB8AC3E}">
        <p14:creationId xmlns:p14="http://schemas.microsoft.com/office/powerpoint/2010/main" val="415632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84FA4-DEFF-87F4-3406-F3655A3B3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815D9-4ABE-67C5-08DE-17A7FA01B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 a low-cost hardware device (ESP32 + HR sensor).	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Monitor real-time heart rate during workout/study sessions.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Dynamically adjust music volume, tempo, and playlist according to HR zones.	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Provide motivation in sports &amp; fitness through biofeedback + music.</a:t>
            </a:r>
          </a:p>
        </p:txBody>
      </p:sp>
    </p:spTree>
    <p:extLst>
      <p:ext uri="{BB962C8B-B14F-4D97-AF65-F5344CB8AC3E}">
        <p14:creationId xmlns:p14="http://schemas.microsoft.com/office/powerpoint/2010/main" val="1080002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98A27-DEAB-825D-6AAB-2F341E1A4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 Flow:</a:t>
            </a:r>
            <a:endParaRPr lang="k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3B48C-B3BC-8DEB-819B-9C105E0B6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33400" indent="-457200">
              <a:buAutoNum type="arabicPeriod"/>
            </a:pPr>
            <a:r>
              <a:rPr lang="en-GB" dirty="0"/>
              <a:t>Measure accurate heart-rate data using the MAX30102 sensor.	</a:t>
            </a:r>
          </a:p>
          <a:p>
            <a:pPr marL="533400" indent="-457200">
              <a:buAutoNum type="arabicPeriod"/>
            </a:pPr>
            <a:r>
              <a:rPr lang="en-GB" dirty="0"/>
              <a:t>Process BPM values on ESP32 and classify them into calm, normal, and high-intensity zones.	</a:t>
            </a:r>
          </a:p>
          <a:p>
            <a:pPr marL="533400" indent="-457200">
              <a:buAutoNum type="arabicPeriod"/>
            </a:pPr>
            <a:r>
              <a:rPr lang="en-GB" dirty="0"/>
              <a:t>Store pre-selected music tracks on a microSD card using </a:t>
            </a:r>
            <a:r>
              <a:rPr lang="en-GB" dirty="0" err="1"/>
              <a:t>DFPlayer</a:t>
            </a:r>
            <a:r>
              <a:rPr lang="en-GB" dirty="0"/>
              <a:t> Mini.	</a:t>
            </a:r>
          </a:p>
          <a:p>
            <a:pPr marL="533400" indent="-457200">
              <a:buAutoNum type="arabicPeriod"/>
            </a:pPr>
            <a:r>
              <a:rPr lang="en-GB" dirty="0"/>
              <a:t>Automatically play the appropriate music type based on the user’s heart-rate zone.	</a:t>
            </a:r>
          </a:p>
          <a:p>
            <a:pPr marL="533400" indent="-457200">
              <a:buAutoNum type="arabicPeriod"/>
            </a:pPr>
            <a:r>
              <a:rPr lang="en-GB" dirty="0"/>
              <a:t>Display live BPM and system status on a 0.96″ OLED screen.		</a:t>
            </a:r>
          </a:p>
          <a:p>
            <a:pPr marL="533400" indent="-457200">
              <a:buAutoNum type="arabicPeriod"/>
            </a:pPr>
            <a:r>
              <a:rPr lang="en-GB" dirty="0"/>
              <a:t>Build a portable, low-cost fitness-assistive hardware prototype.</a:t>
            </a:r>
            <a:endParaRPr lang="kn-IN" dirty="0"/>
          </a:p>
        </p:txBody>
      </p:sp>
    </p:spTree>
    <p:extLst>
      <p:ext uri="{BB962C8B-B14F-4D97-AF65-F5344CB8AC3E}">
        <p14:creationId xmlns:p14="http://schemas.microsoft.com/office/powerpoint/2010/main" val="1445385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AE6A0-4C76-5BF7-374D-1026AD832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Pseudo-code:</a:t>
            </a:r>
            <a:endParaRPr lang="k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BE49C-FD10-4B95-5402-66BAB93C5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GB" dirty="0"/>
              <a:t>START  </a:t>
            </a:r>
          </a:p>
          <a:p>
            <a:pPr marL="76200" indent="0">
              <a:buNone/>
            </a:pPr>
            <a:r>
              <a:rPr lang="en-GB" dirty="0"/>
              <a:t>	Setup sensors, OLED, </a:t>
            </a:r>
            <a:r>
              <a:rPr lang="en-GB" dirty="0" err="1"/>
              <a:t>DFPlayer</a:t>
            </a:r>
            <a:r>
              <a:rPr lang="en-GB" dirty="0"/>
              <a:t>  </a:t>
            </a:r>
          </a:p>
          <a:p>
            <a:pPr marL="76200" indent="0">
              <a:buNone/>
            </a:pPr>
            <a:r>
              <a:rPr lang="en-GB" dirty="0"/>
              <a:t>	WHILE true:      </a:t>
            </a:r>
          </a:p>
          <a:p>
            <a:pPr marL="76200" indent="0">
              <a:buNone/>
            </a:pPr>
            <a:r>
              <a:rPr lang="en-GB" dirty="0"/>
              <a:t>		Read HR      </a:t>
            </a:r>
          </a:p>
          <a:p>
            <a:pPr marL="76200" indent="0">
              <a:buNone/>
            </a:pPr>
            <a:r>
              <a:rPr lang="en-GB" dirty="0"/>
              <a:t>		Show HR on OLED     </a:t>
            </a:r>
          </a:p>
          <a:p>
            <a:pPr marL="76200" indent="0">
              <a:buNone/>
            </a:pPr>
            <a:r>
              <a:rPr lang="en-GB" dirty="0"/>
              <a:t>		IF HR &lt; 80 → play calm music     </a:t>
            </a:r>
          </a:p>
          <a:p>
            <a:pPr marL="76200" indent="0">
              <a:buNone/>
            </a:pPr>
            <a:r>
              <a:rPr lang="en-GB" dirty="0"/>
              <a:t>		ELSE IF HR &lt; 110 → play normal music      </a:t>
            </a:r>
          </a:p>
          <a:p>
            <a:pPr marL="76200" indent="0">
              <a:buNone/>
            </a:pPr>
            <a:r>
              <a:rPr lang="en-GB" dirty="0"/>
              <a:t>		ELSE → play high-beat music </a:t>
            </a:r>
          </a:p>
          <a:p>
            <a:pPr marL="76200" indent="0">
              <a:buNone/>
            </a:pPr>
            <a:r>
              <a:rPr lang="en-GB" dirty="0"/>
              <a:t>	END WHILE</a:t>
            </a:r>
          </a:p>
          <a:p>
            <a:pPr marL="76200" indent="0">
              <a:buNone/>
            </a:pPr>
            <a:r>
              <a:rPr lang="en-GB" dirty="0"/>
              <a:t>END</a:t>
            </a:r>
            <a:endParaRPr lang="kn-IN" dirty="0"/>
          </a:p>
        </p:txBody>
      </p:sp>
    </p:spTree>
    <p:extLst>
      <p:ext uri="{BB962C8B-B14F-4D97-AF65-F5344CB8AC3E}">
        <p14:creationId xmlns:p14="http://schemas.microsoft.com/office/powerpoint/2010/main" val="907523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11157-7095-55B0-46E1-F6A1D548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77993"/>
            <a:ext cx="10668000" cy="684006"/>
          </a:xfrm>
        </p:spPr>
        <p:txBody>
          <a:bodyPr/>
          <a:lstStyle/>
          <a:p>
            <a:r>
              <a:rPr lang="en-IN" dirty="0"/>
              <a:t>100 % Implementation with Live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7972F-A37E-3814-0A55-6043CD474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pic>
        <p:nvPicPr>
          <p:cNvPr id="5" name="Picture 4" descr="A circuit board with wires&#10;&#10;AI-generated content may be incorrect.">
            <a:extLst>
              <a:ext uri="{FF2B5EF4-FFF2-40B4-BE49-F238E27FC236}">
                <a16:creationId xmlns:a16="http://schemas.microsoft.com/office/drawing/2014/main" id="{BFCB66E4-C6A9-6A17-62FE-B2DA77C7C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670300" y="-1714499"/>
            <a:ext cx="4953000" cy="106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50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DCCF-1ED7-8E68-2AF0-0B1D777F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Report Status:</a:t>
            </a:r>
            <a:endParaRPr lang="k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380F6-6B52-7076-1588-BE2A612EA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dirty="0"/>
              <a:t>Completed all sections as per format.</a:t>
            </a:r>
            <a:endParaRPr lang="kn-IN" dirty="0"/>
          </a:p>
        </p:txBody>
      </p:sp>
    </p:spTree>
    <p:extLst>
      <p:ext uri="{BB962C8B-B14F-4D97-AF65-F5344CB8AC3E}">
        <p14:creationId xmlns:p14="http://schemas.microsoft.com/office/powerpoint/2010/main" val="2169714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2973-D44D-8155-2C25-D63AED5B6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Plagiarism Report: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988AA-E656-6222-787B-55E07C87A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AF08D4-90EC-A966-D8B2-1AFE435F6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003300"/>
            <a:ext cx="4980623" cy="5194300"/>
          </a:xfrm>
          <a:prstGeom prst="rect">
            <a:avLst/>
          </a:prstGeom>
        </p:spPr>
      </p:pic>
      <p:pic>
        <p:nvPicPr>
          <p:cNvPr id="11" name="Picture 10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BF8ED475-1825-89A6-5F1D-68BF4982D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209" y="1003300"/>
            <a:ext cx="5297805" cy="519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82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C8742-449D-3ABA-7BC1-E2D6F6A04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Paper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0F079-DB0C-BACD-1C03-8DD594944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dirty="0"/>
              <a:t>Completed the research paper as per IEEE format.</a:t>
            </a:r>
          </a:p>
        </p:txBody>
      </p:sp>
    </p:spTree>
    <p:extLst>
      <p:ext uri="{BB962C8B-B14F-4D97-AF65-F5344CB8AC3E}">
        <p14:creationId xmlns:p14="http://schemas.microsoft.com/office/powerpoint/2010/main" val="2528427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EE4D-6CB3-1BDC-92AF-36B56C42C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SDG Mapping with 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4645E-96F9-3621-6D53-0C125E59E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i="1" dirty="0"/>
              <a:t>SDG 3 – Good Health &amp; Well-Being</a:t>
            </a:r>
            <a:r>
              <a:rPr lang="en-GB" dirty="0"/>
              <a:t>: Promotes regular exercise at the right intensity to improve health outcomes and prevent chronic diseases using an accessible, low-effort fitness system.</a:t>
            </a:r>
          </a:p>
          <a:p>
            <a:r>
              <a:rPr lang="en-GB" b="1" i="1" dirty="0"/>
              <a:t>SDG 9 – Industry, Innovation &amp; Infrastructure</a:t>
            </a:r>
            <a:r>
              <a:rPr lang="en-GB" dirty="0"/>
              <a:t>: Showcases affordable innovation by using low-cost embedded systems and sensors to make health-tech solutions more accessible in resource-limited regions.</a:t>
            </a:r>
          </a:p>
          <a:p>
            <a:r>
              <a:rPr lang="en-GB" b="1" i="1" dirty="0"/>
              <a:t>SDG 12 – Responsible Consumption &amp; Production</a:t>
            </a:r>
            <a:r>
              <a:rPr lang="en-GB" dirty="0"/>
              <a:t>: Follows a minimalistic, energy-efficient design that avoids constant charging or internet dependence, reducing electronic waste and supporting sustainable use.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686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/>
              <a:t>https://github.com/rukminisurvem/Music-to-Fitness-Hardware-System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Image 275">
            <a:extLst>
              <a:ext uri="{FF2B5EF4-FFF2-40B4-BE49-F238E27FC236}">
                <a16:creationId xmlns:a16="http://schemas.microsoft.com/office/drawing/2014/main" id="{E389DC96-A4BA-4B0F-1CF3-CE5B0F4845DA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5200" y="2279968"/>
            <a:ext cx="10007600" cy="357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8E63C9-FF36-5590-77F5-52A15DB00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1" y="1143000"/>
            <a:ext cx="10668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•	H. Liu, J. Hu, and M.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Rauterberg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“Music Playlist Recommendation Based on User Heartbeat and Music Preference,” IEEE Transactions, 2009.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•	ISO/IEEE 11073, “Personal Health Device Communication Standards.”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4A79-DCF3-0BB4-520A-F73DA357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References:</a:t>
            </a:r>
            <a:endParaRPr lang="k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DE00C-BE4E-8AA1-9000-7E5392131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IN" dirty="0"/>
              <a:t>• </a:t>
            </a:r>
            <a:r>
              <a:rPr lang="en-IN" dirty="0" err="1"/>
              <a:t>Espressif</a:t>
            </a:r>
            <a:r>
              <a:rPr lang="en-IN" dirty="0"/>
              <a:t> Systems, “ESP32 Technical Reference Manual,” 2024.</a:t>
            </a:r>
          </a:p>
          <a:p>
            <a:pPr marL="76200" indent="0">
              <a:buNone/>
            </a:pPr>
            <a:r>
              <a:rPr lang="en-IN" dirty="0"/>
              <a:t>• Maxim Integrated, “MAX30100 Pulse Oximeter and Heart-Rate Sensor Datasheet,” 2024.</a:t>
            </a:r>
          </a:p>
          <a:p>
            <a:pPr marL="76200" indent="0">
              <a:buNone/>
            </a:pPr>
            <a:r>
              <a:rPr lang="en-IN" dirty="0"/>
              <a:t>• A. F. Barbosa et al., “Heart Rate Based Real-Time Music Adaptation,” IEEE Access, May 2022 (online repository, no volume/page).</a:t>
            </a:r>
          </a:p>
          <a:p>
            <a:pPr marL="76200" indent="0">
              <a:buNone/>
            </a:pPr>
            <a:r>
              <a:rPr lang="en-IN" dirty="0"/>
              <a:t>• IEEE Standard 11073 for Health Informatics, 2023 (repository document, no volume/page).</a:t>
            </a:r>
          </a:p>
          <a:p>
            <a:pPr marL="76200" indent="0">
              <a:buNone/>
            </a:pPr>
            <a:r>
              <a:rPr lang="en-IN" dirty="0"/>
              <a:t>• Additional IEEE/Scopus papers from the project literature survey.</a:t>
            </a:r>
            <a:endParaRPr lang="kn-IN" dirty="0"/>
          </a:p>
        </p:txBody>
      </p:sp>
    </p:spTree>
    <p:extLst>
      <p:ext uri="{BB962C8B-B14F-4D97-AF65-F5344CB8AC3E}">
        <p14:creationId xmlns:p14="http://schemas.microsoft.com/office/powerpoint/2010/main" val="1976261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712</Words>
  <Application>Microsoft Office PowerPoint</Application>
  <PresentationFormat>Widescreen</PresentationFormat>
  <Paragraphs>95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Cambria</vt:lpstr>
      <vt:lpstr>Verdana</vt:lpstr>
      <vt:lpstr>Bioinformatics</vt:lpstr>
      <vt:lpstr>Music to Fitness: A Smart Hardware Device for Adaptive Workout Motivation</vt:lpstr>
      <vt:lpstr>Contents: </vt:lpstr>
      <vt:lpstr>Introduction and Problem Statement</vt:lpstr>
      <vt:lpstr>Objectives</vt:lpstr>
      <vt:lpstr>Work Flow:</vt:lpstr>
      <vt:lpstr>Pseudo-code:</vt:lpstr>
      <vt:lpstr>100 % Implementation with Live Demo</vt:lpstr>
      <vt:lpstr>Final Report Status:</vt:lpstr>
      <vt:lpstr>Plagiarism Report: </vt:lpstr>
      <vt:lpstr>Research Paper</vt:lpstr>
      <vt:lpstr>SDG Mapping with Problem Statement</vt:lpstr>
      <vt:lpstr>Github Link</vt:lpstr>
      <vt:lpstr>Timeline of the Project (Gantt Chart)</vt:lpstr>
      <vt:lpstr>References (IEEE Paper format)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Abhishek Gowda</cp:lastModifiedBy>
  <cp:revision>43</cp:revision>
  <dcterms:modified xsi:type="dcterms:W3CDTF">2025-12-09T07:27:38Z</dcterms:modified>
</cp:coreProperties>
</file>